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69723" autoAdjust="0"/>
  </p:normalViewPr>
  <p:slideViewPr>
    <p:cSldViewPr snapToGrid="0">
      <p:cViewPr varScale="1">
        <p:scale>
          <a:sx n="61" d="100"/>
          <a:sy n="61" d="100"/>
        </p:scale>
        <p:origin x="123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A7C96-F447-4F88-ADBA-AFFC287C1585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B28D5-8512-4465-B814-C70A1F9645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4632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B28D5-8512-4465-B814-C70A1F9645C4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3278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B28D5-8512-4465-B814-C70A1F9645C4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0123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B28D5-8512-4465-B814-C70A1F9645C4}" type="slidenum">
              <a:rPr lang="en-NZ" smtClean="0"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50894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B28D5-8512-4465-B814-C70A1F9645C4}" type="slidenum">
              <a:rPr lang="en-NZ" smtClean="0"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38221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B28D5-8512-4465-B814-C70A1F9645C4}" type="slidenum">
              <a:rPr lang="en-NZ" smtClean="0"/>
              <a:t>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75239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B18E-8442-DC90-ADA9-C20FBAA1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57F92-1BD6-BC96-49CA-EBB240A9B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65B47-E93A-5E60-D47C-4E19A0F8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B9F76-528F-0294-239A-00DE279C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D20B5-D042-B631-1BA1-B01988C7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2379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0E18-70C5-0D77-4D3F-16365D55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02F42-EBE4-52CE-BE9B-B3F0E08A3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D1031-55A6-501B-6A8F-7346591C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BB4C5-0763-33F9-6595-099299AB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23C8B-1130-733A-589F-0843389C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7823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E7AB-9BD9-4261-3237-B095E361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62FDF-7FB6-FA04-20D2-2A9476B31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B25D8-F1A7-D443-38ED-A87812C3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6ED58-F38E-0735-5EEB-827F6C10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2DFFF-DAD1-2C4D-B2A4-C56AE278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4305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B1E0-8EB5-3978-F4E2-7CE43A816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33646-5A7D-728A-656C-0420B7839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ECB67-7EA2-5257-E1C0-AF5EDE59F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A69CE-C317-953F-BE70-E4B58C29C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344CB-185F-F755-44D2-008A92A3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83FD9-071D-F200-ADBE-4B36CF53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0449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B33C-D9F5-7F63-323F-9A97AAFA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A0802-C494-EFE3-5E92-14D6D6302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73E90-CEDC-088D-E8F5-B68E13FAD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C48EF-E8C0-574B-D867-33305F4A9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F9BDA7-59CF-C7ED-7314-C735EDD5F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8A14C-440A-8F82-E747-F53EF518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808AC8-2C4D-C585-26AE-82A0F7909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DBD67-ECFF-FC94-D83A-72A4B09B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8376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3906-83C6-6168-00EF-85FEE079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5A6F0-71BE-C849-89C1-5072F407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02641-0AE6-56A9-5EEA-19186B48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AC62C-0190-5DA7-7DAE-55C1A72B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4559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1B3F61-0B10-A4AA-31A2-26E56C21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3F70F-FAFF-49BC-ADA7-826AE877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32D16-6CA2-972C-2E75-D53E91D1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46187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3783-9CC9-59DC-0540-B66982EA6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D392D-A043-25A8-1A48-C154B2AC7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2AC9D-6905-E6CE-2573-F242AE4F4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EE51A-9666-78B3-0BA2-9E714538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14D6C-15A4-6504-5021-40E8A731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583C1-4FEB-AC44-4ABC-BA3C2090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354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DF92-42DA-3DF6-585D-10B969871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E3AE2-783E-5C4A-C278-489ECB1B5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A7960-15BF-CF6E-9671-C3845424E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EC8B6-36F3-7F3C-971C-E8ADF405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CCBD5-86C4-31DE-CA0F-2E38A1DB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B5275-9F8B-8270-738B-DF260325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6518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C0F0-BD3C-F179-4189-7FB9E046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6CDA7-ABB1-58E9-69D6-B5E2012DD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94DD-B59B-85C6-1C48-250DB6AE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7AD67-ECF2-481F-83DD-2DF21101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3B7EF-46C2-9354-425E-4021C65F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0202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29FD6-F85E-DCA3-8399-FDD78B4DE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3CCB4-2361-9DFF-3994-6FD847481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8FC4A-AB21-8320-873B-3281B57D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09768-391A-8D5C-D71A-D2A55720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9E71E-F37D-DA0F-BBED-2CFB8371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6526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AAA75F-3F35-52D2-AF70-07D62E77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0BB9D-0F37-A31E-A2C4-7EEFD4F7C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1DEDC-EB3C-8474-A9C3-A9A7D8152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44788-1460-495D-838E-880F002821DF}" type="datetimeFigureOut">
              <a:rPr lang="en-NZ" smtClean="0"/>
              <a:t>10/04/2026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FB163-FAC3-B78A-70AB-1E470687B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C6A3C-D51F-D124-4F46-91A1AC272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9E92C-9065-4EC1-B8F4-4B1347AF3E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651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4547D-6667-63CB-CBC7-1D214EAFA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NZ" sz="5200" dirty="0"/>
              <a:t>Loan Default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13D72-8D9A-9A58-CA9E-81AD5171C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NZ" sz="2000" dirty="0"/>
              <a:t>Objective: Identify key factors influencing loan default risk and develop predictive models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NZ" sz="2000" dirty="0"/>
              <a:t>JIRA: Board with To-do, In Progress, Done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NZ" sz="2000" dirty="0"/>
              <a:t>Daily Standups: 10-15 min meetings discussing progress and blockers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NZ" sz="2000" dirty="0"/>
              <a:t>Agile &amp; Design Thinking: Collaboration, adaptability, continuous feedback</a:t>
            </a:r>
          </a:p>
        </p:txBody>
      </p:sp>
      <p:pic>
        <p:nvPicPr>
          <p:cNvPr id="31" name="Graphic 30" descr="Head with Gears">
            <a:extLst>
              <a:ext uri="{FF2B5EF4-FFF2-40B4-BE49-F238E27FC236}">
                <a16:creationId xmlns:a16="http://schemas.microsoft.com/office/drawing/2014/main" id="{F517A4F2-95FA-275C-A4DA-640B22738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20" name="Graphic 19" descr="Head with Gears">
            <a:extLst>
              <a:ext uri="{FF2B5EF4-FFF2-40B4-BE49-F238E27FC236}">
                <a16:creationId xmlns:a16="http://schemas.microsoft.com/office/drawing/2014/main" id="{0E65A4DA-4A8C-4BC8-B06F-4508BF9DB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7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A016CB47-C4D4-4332-9ED0-DBB916252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92DD0C-4A5C-D814-451B-583BA3800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lang="en-NZ" sz="3600" dirty="0"/>
              <a:t>Data Loading, Exploratory Data Analysis (EDA) &amp; Preprocessing</a:t>
            </a:r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F54BF2F-8DB1-4EAF-5C24-5E36D1B19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480826"/>
            <a:ext cx="3335789" cy="261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B9007F7-1643-626B-8A2F-7C2774585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66396" y="522080"/>
            <a:ext cx="3336953" cy="253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C9A8A39-AFAC-D067-A8B1-26E975D96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95756" y="522080"/>
            <a:ext cx="3336953" cy="253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1" name="Rectangle 106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B62FA-5C33-AD59-26C2-C74301D08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3930305"/>
            <a:ext cx="6586915" cy="2437244"/>
          </a:xfrm>
        </p:spPr>
        <p:txBody>
          <a:bodyPr anchor="ctr">
            <a:normAutofit/>
          </a:bodyPr>
          <a:lstStyle/>
          <a:p>
            <a:r>
              <a:rPr lang="en-NZ" sz="2000" dirty="0"/>
              <a:t>Data loaded from Azure Blob Storage into Microsoft Fabric</a:t>
            </a:r>
          </a:p>
          <a:p>
            <a:r>
              <a:rPr lang="en-NZ" sz="2000" dirty="0"/>
              <a:t>EDA revealed financial variables (loan-to-income-ratio, interest rate) have the strongest relationship with default</a:t>
            </a:r>
          </a:p>
          <a:p>
            <a:r>
              <a:rPr lang="en-NZ" sz="2000" dirty="0"/>
              <a:t>Missing values handled (median/mode), one-hot encoding, 80/20 train-test split</a:t>
            </a:r>
          </a:p>
        </p:txBody>
      </p:sp>
    </p:spTree>
    <p:extLst>
      <p:ext uri="{BB962C8B-B14F-4D97-AF65-F5344CB8AC3E}">
        <p14:creationId xmlns:p14="http://schemas.microsoft.com/office/powerpoint/2010/main" val="405734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19" name="Freeform: Shape 2118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FDE59-A16A-5B41-0FC1-4AB9B340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47949" cy="2137273"/>
          </a:xfrm>
        </p:spPr>
        <p:txBody>
          <a:bodyPr anchor="b">
            <a:normAutofit/>
          </a:bodyPr>
          <a:lstStyle/>
          <a:p>
            <a:r>
              <a:rPr lang="en-NZ" sz="4100" dirty="0"/>
              <a:t>Model Training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0BBAA-FD40-363A-CFB8-F48D88183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1785"/>
            <a:ext cx="4347948" cy="3495178"/>
          </a:xfrm>
        </p:spPr>
        <p:txBody>
          <a:bodyPr>
            <a:normAutofit/>
          </a:bodyPr>
          <a:lstStyle/>
          <a:p>
            <a:endParaRPr lang="en-NZ" sz="2000" dirty="0"/>
          </a:p>
          <a:p>
            <a:r>
              <a:rPr lang="en-NZ" sz="2000" dirty="0"/>
              <a:t>Three models trained: Logistic Regression, Random Forest, Gradient Boosting</a:t>
            </a:r>
          </a:p>
          <a:p>
            <a:r>
              <a:rPr lang="en-NZ" sz="2000" dirty="0"/>
              <a:t>Models evaluated using Accuracy &amp; Confusion Matrix</a:t>
            </a:r>
          </a:p>
          <a:p>
            <a:endParaRPr lang="en-NZ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E3FDBA-43FA-C7BA-F2FD-8C19A12AA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99917" y="825030"/>
            <a:ext cx="7139638" cy="237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275F3F-64A4-675C-E048-047DD5D36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449" y="4867035"/>
            <a:ext cx="3399490" cy="968854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9730A06-7954-EE69-3564-120C46238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10939" y="4170475"/>
            <a:ext cx="3304596" cy="196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5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Freeform: Shape 3089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7D6AA-5BEE-8E79-9738-C65B30C04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NZ" sz="4100"/>
              <a:t>Model Comparison &amp; Best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3539-FFAD-5A0A-9672-774C2B910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>
            <a:normAutofit lnSpcReduction="10000"/>
          </a:bodyPr>
          <a:lstStyle/>
          <a:p>
            <a:r>
              <a:rPr lang="en-NZ" sz="2000"/>
              <a:t>Best model: Random Forest</a:t>
            </a:r>
          </a:p>
          <a:p>
            <a:r>
              <a:rPr lang="en-NZ" sz="2000"/>
              <a:t>Error analysis: False Positives vs False Negatives</a:t>
            </a:r>
          </a:p>
          <a:p>
            <a:endParaRPr lang="en-NZ" sz="2000"/>
          </a:p>
          <a:p>
            <a:r>
              <a:rPr lang="en-NZ" sz="2000"/>
              <a:t>Why Random Forest is best:</a:t>
            </a:r>
          </a:p>
          <a:p>
            <a:r>
              <a:rPr lang="en-NZ" sz="2000"/>
              <a:t>Lowest False Negatives (456) – catches the most actual defaulters</a:t>
            </a:r>
          </a:p>
          <a:p>
            <a:r>
              <a:rPr lang="en-NZ" sz="2000"/>
              <a:t>Highest Accuracy (93.03%)</a:t>
            </a:r>
          </a:p>
          <a:p>
            <a:r>
              <a:rPr lang="en-NZ" sz="2000"/>
              <a:t>Best F1-Score (0.8321) – best balance of precision and recall.</a:t>
            </a:r>
            <a:endParaRPr lang="en-NZ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1F5A07-2CE9-5D5E-3A4A-2EEC081AB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966" y="643468"/>
            <a:ext cx="3038812" cy="2545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ED45D9-5944-9C27-7F03-E19CF908D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168" y="3657600"/>
            <a:ext cx="3006407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88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9B11C-23C5-1F40-635B-26DBA821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NZ" sz="3100" dirty="0"/>
              <a:t>Lakehouse &amp; Business Conclusion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017FC98B-54D4-7397-B376-DD1C69859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7202-0896-75F0-3C96-B0F0230D4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Recommended model: Random Forest</a:t>
            </a:r>
          </a:p>
          <a:p>
            <a:r>
              <a:rPr lang="en-US" sz="1700" dirty="0"/>
              <a:t>Results saved to Microsoft Fabric Lakehouse as Delta table</a:t>
            </a:r>
          </a:p>
          <a:p>
            <a:r>
              <a:rPr lang="en-US" sz="1700" dirty="0"/>
              <a:t>Business insights and recommendations</a:t>
            </a:r>
          </a:p>
          <a:p>
            <a:endParaRPr lang="en-US" sz="1700" dirty="0"/>
          </a:p>
          <a:p>
            <a:r>
              <a:rPr lang="en-US" sz="2000" b="1" dirty="0"/>
              <a:t>Key Findings:</a:t>
            </a:r>
          </a:p>
          <a:p>
            <a:r>
              <a:rPr lang="en-US" sz="1700" dirty="0"/>
              <a:t>Loan default is primarily driven by financial burden (loan-to-income ratio, interest rate)</a:t>
            </a:r>
          </a:p>
          <a:p>
            <a:r>
              <a:rPr lang="en-US" sz="1700" dirty="0"/>
              <a:t>Traditional indicators like credit score showed limited predictive power</a:t>
            </a:r>
          </a:p>
          <a:p>
            <a:r>
              <a:rPr lang="en-US" sz="1700" dirty="0"/>
              <a:t>Ensemble methods (Random Forest) outperform simpler models</a:t>
            </a:r>
          </a:p>
          <a:p>
            <a:endParaRPr lang="en-US" sz="1700" dirty="0"/>
          </a:p>
          <a:p>
            <a:r>
              <a:rPr lang="en-US" sz="2000" b="1" dirty="0"/>
              <a:t>Recommendations:</a:t>
            </a:r>
          </a:p>
          <a:p>
            <a:r>
              <a:rPr lang="en-US" sz="1700" dirty="0"/>
              <a:t>Deploy Random Forest for loan approval system</a:t>
            </a:r>
          </a:p>
          <a:p>
            <a:r>
              <a:rPr lang="en-US" sz="1700" dirty="0"/>
              <a:t>Focus on affordability metrics when assessing loan applications</a:t>
            </a:r>
          </a:p>
          <a:p>
            <a:r>
              <a:rPr lang="en-US" sz="1700" dirty="0"/>
              <a:t>Retrain model monthly with new loan data</a:t>
            </a:r>
          </a:p>
        </p:txBody>
      </p:sp>
    </p:spTree>
    <p:extLst>
      <p:ext uri="{BB962C8B-B14F-4D97-AF65-F5344CB8AC3E}">
        <p14:creationId xmlns:p14="http://schemas.microsoft.com/office/powerpoint/2010/main" val="1156050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265</Words>
  <Application>Microsoft Office PowerPoint</Application>
  <PresentationFormat>Widescreen</PresentationFormat>
  <Paragraphs>40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Loan Default Prediction Using Machine Learning</vt:lpstr>
      <vt:lpstr>Data Loading, Exploratory Data Analysis (EDA) &amp; Preprocessing</vt:lpstr>
      <vt:lpstr>Model Training &amp; Evaluation</vt:lpstr>
      <vt:lpstr>Model Comparison &amp; Best Model Selection</vt:lpstr>
      <vt:lpstr>Lakehouse &amp; Business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Ilaisaane Mosiana Atiola</dc:creator>
  <cp:lastModifiedBy>Ilaisaane Mosiana Atiola</cp:lastModifiedBy>
  <cp:revision>11</cp:revision>
  <dcterms:created xsi:type="dcterms:W3CDTF">2026-04-02T06:06:47Z</dcterms:created>
  <dcterms:modified xsi:type="dcterms:W3CDTF">2026-04-10T08:45:56Z</dcterms:modified>
</cp:coreProperties>
</file>